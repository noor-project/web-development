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5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6400800" y="548640"/>
            <a:ext cx="2560320" cy="256032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766560" y="914400"/>
            <a:ext cx="1828800" cy="18288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384048"/>
            <a:ext cx="91440" cy="23774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40080" y="320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Functions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·  Web Development  ·  BSCS 6th Semester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810512" cy="338328"/>
          </a:xfrm>
          <a:prstGeom prst="roundRect">
            <a:avLst>
              <a:gd name="adj" fmla="val 48649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8608" y="3246120"/>
            <a:ext cx="1810512" cy="338328"/>
          </a:xfrm>
          <a:prstGeom prst="roundRect">
            <a:avLst>
              <a:gd name="adj" fmla="val 48649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2578608" y="3246120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17136" y="3246120"/>
            <a:ext cx="1810512" cy="338328"/>
          </a:xfrm>
          <a:prstGeom prst="roundRect">
            <a:avLst>
              <a:gd name="adj" fmla="val 48649"/>
            </a:avLst>
          </a:prstGeom>
          <a:solidFill>
            <a:srgbClr val="9D4ED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517136" y="3246120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call/apply/bind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810512" cy="338328"/>
          </a:xfrm>
          <a:prstGeom prst="roundRect">
            <a:avLst>
              <a:gd name="adj" fmla="val 48649"/>
            </a:avLst>
          </a:prstGeom>
          <a:solidFill>
            <a:srgbClr val="06D6A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78608" y="3703320"/>
            <a:ext cx="1810512" cy="338328"/>
          </a:xfrm>
          <a:prstGeom prst="roundRect">
            <a:avLst>
              <a:gd name="adj" fmla="val 48649"/>
            </a:avLst>
          </a:prstGeom>
          <a:solidFill>
            <a:srgbClr val="FFB70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2578608" y="3703320"/>
            <a:ext cx="1810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810512" cy="365760"/>
          </a:xfrm>
          <a:prstGeom prst="roundRect">
            <a:avLst>
              <a:gd name="adj" fmla="val 20000"/>
            </a:avLst>
          </a:prstGeom>
          <a:solidFill>
            <a:srgbClr val="E94560">
              <a:alpha val="2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23-NTU-CS-1041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78608" y="4434840"/>
            <a:ext cx="1810512" cy="365760"/>
          </a:xfrm>
          <a:prstGeom prst="roundRect">
            <a:avLst>
              <a:gd name="adj" fmla="val 20000"/>
            </a:avLst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578608" y="4434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23-NTU-CS-1050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17136" y="4434840"/>
            <a:ext cx="1810512" cy="365760"/>
          </a:xfrm>
          <a:prstGeom prst="roundRect">
            <a:avLst>
              <a:gd name="adj" fmla="val 20000"/>
            </a:avLst>
          </a:prstGeom>
          <a:solidFill>
            <a:srgbClr val="9D4EDD">
              <a:alpha val="20000"/>
            </a:srgbClr>
          </a:solidFill>
          <a:ln w="1905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26" name="Text 24"/>
          <p:cNvSpPr/>
          <p:nvPr/>
        </p:nvSpPr>
        <p:spPr>
          <a:xfrm>
            <a:off x="4517136" y="4434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23-NTU-CS-1083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0" y="4873752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 ·  BSCS 6th Semester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252"/>
            <a:ext cx="2834640" cy="514350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3" name="Text 1"/>
          <p:cNvSpPr/>
          <p:nvPr/>
        </p:nvSpPr>
        <p:spPr>
          <a:xfrm>
            <a:off x="201168" y="320039"/>
            <a:ext cx="2432304" cy="170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&amp;Functional Programming</a:t>
            </a:r>
          </a:p>
        </p:txBody>
      </p:sp>
      <p:sp>
        <p:nvSpPr>
          <p:cNvPr id="5" name="Shape 3"/>
          <p:cNvSpPr/>
          <p:nvPr/>
        </p:nvSpPr>
        <p:spPr>
          <a:xfrm>
            <a:off x="164592" y="26517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E94560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56032" y="26974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68833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" y="3401568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256032" y="3447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CS-1083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4381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Types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call/apply/bind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4151376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9D4EDD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56032" y="41970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CS-1041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1879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01168"/>
            <a:ext cx="58521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182112" y="338328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182112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2926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676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calling themselves — base &amp; recursive case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1152144"/>
            <a:ext cx="58521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3182112" y="1289304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182112" y="1289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12435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Types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8620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· Expression · IIFE and hoisting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2103120"/>
            <a:ext cx="58521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182112" y="2240280"/>
            <a:ext cx="548640" cy="548640"/>
          </a:xfrm>
          <a:prstGeom prst="ellipse">
            <a:avLst/>
          </a:prstGeom>
          <a:solidFill>
            <a:srgbClr val="9D4ED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1821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6200" y="2194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 / apply / bind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86200" y="2578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setting the 'this' context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017520" y="3054096"/>
            <a:ext cx="58521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182112" y="3191256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182112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86200" y="31455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Arrow Functions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86200" y="3529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'this', no arguments object, clean syntax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017520" y="4005072"/>
            <a:ext cx="58521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3182112" y="4142232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3182112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86200" y="40965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 Parameters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88620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fallback values in function signatures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658368" cy="65836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" y="640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603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solves a problem by calling itself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7178040" y="182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069080" cy="1298448"/>
          </a:xfrm>
          <a:prstGeom prst="roundRect">
            <a:avLst>
              <a:gd name="adj" fmla="val 985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75488" y="115214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What is Recursion?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" y="155448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calls itself until a base condition stops it. Without a base case → infinite loop → crash.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078992"/>
            <a:ext cx="434340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709160" y="115214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Two Mandatory Rules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Base Case 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to STOP
</a:t>
            </a: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Recursive Case 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to call itself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5376672" cy="2395728"/>
          </a:xfrm>
          <a:prstGeom prst="roundRect">
            <a:avLst>
              <a:gd name="adj" fmla="val 381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5376672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38912" y="258775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258775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841248" y="258775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38912" y="2816352"/>
            <a:ext cx="51206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Factorial: 5! = 5×4×3×2×1 = 120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factorial(n)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=== 0) return 1;       // BASE 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* factorial(n - 1); // RECURSIVE 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console.log(factorial(5)); // 120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factorial(3) → 3 * factorial(2)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→ 3 * 2 * factorial(1)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→ 3 * 2 * 1 * 1 = 6 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33872" y="2487168"/>
            <a:ext cx="3035808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989320" y="25786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 Real World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961888" y="30175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053328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Folder traversal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61888" y="34747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053328" y="3474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Nested JSON / DOM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61888" y="39319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053328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 Game AI (moves)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61888" y="43891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053328" y="4389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Merge sort algo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658368" cy="65836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" y="640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Types of Functions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603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 ·  Expression  ·  IIFE — know exactly when to use each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7178040" y="182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CS-1083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042416"/>
            <a:ext cx="28346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56032" y="1042416"/>
            <a:ext cx="2834640" cy="4005072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02336" y="1170432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16A34A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02336" y="1170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HOISTED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1481328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" y="2176272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the function keyword. JS hoists it — you can CALL it before it's written.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2871216"/>
            <a:ext cx="2615184" cy="1627632"/>
          </a:xfrm>
          <a:prstGeom prst="roundRect">
            <a:avLst>
              <a:gd name="adj" fmla="val 561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84048" y="2871216"/>
            <a:ext cx="2615184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749808" y="29718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950976" y="297180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2359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sayHi(); // ✅ Works before def!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sayHi()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console.log("Hello!");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" y="45720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for main named functions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27832" y="1042416"/>
            <a:ext cx="283464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3227832" y="1042416"/>
            <a:ext cx="2834640" cy="4005072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3374136" y="1170432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DC2626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3374136" y="1170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HOISTED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74136" y="1481328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374136" y="2176272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variable. NOT hoisted — must define it before calling. Can be passed as argument.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55848" y="2871216"/>
            <a:ext cx="2615184" cy="1627632"/>
          </a:xfrm>
          <a:prstGeom prst="roundRect">
            <a:avLst>
              <a:gd name="adj" fmla="val 561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355848" y="2871216"/>
            <a:ext cx="2615184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520440" y="29718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3721608" y="29718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3922776" y="297180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3520440" y="3200400"/>
            <a:ext cx="2359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greet(); ← ❌ Error!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function(n)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"Hi " + 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greet("Ali"); // ✅ Works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74136" y="45720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for callbacks &amp; values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9632" y="1042416"/>
            <a:ext cx="2834640" cy="73152"/>
          </a:xfrm>
          <a:prstGeom prst="rect">
            <a:avLst/>
          </a:prstGeom>
          <a:solidFill>
            <a:srgbClr val="9D4ED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199632" y="1042416"/>
            <a:ext cx="2834640" cy="4005072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345936" y="1170432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345936" y="1170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RUNS ONCE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45936" y="1481328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IIFE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(Runs Immediately)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345936" y="2176272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immediately after definition. Variables inside stay private — no global pollution.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27648" y="2871216"/>
            <a:ext cx="2615184" cy="1627632"/>
          </a:xfrm>
          <a:prstGeom prst="roundRect">
            <a:avLst>
              <a:gd name="adj" fmla="val 561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6327648" y="2871216"/>
            <a:ext cx="2615184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6492240" y="29718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693408" y="29718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6894576" y="297180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6492240" y="3200400"/>
            <a:ext cx="2359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(function()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x = 42;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console.log(x); // 42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is private ✅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45936" y="45720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for init code &amp; isolation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658368" cy="65836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" y="640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  /  apply  /  bind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603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let you control what 'this' refers to inside a function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"/>
            <a:ext cx="1783080" cy="347472"/>
          </a:xfrm>
          <a:prstGeom prst="roundRect">
            <a:avLst>
              <a:gd name="adj" fmla="val 26316"/>
            </a:avLst>
          </a:prstGeom>
          <a:solidFill>
            <a:srgbClr val="9D4ED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7178040" y="182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CS-1083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8595360" cy="530352"/>
          </a:xfrm>
          <a:prstGeom prst="roundRect">
            <a:avLst>
              <a:gd name="adj" fmla="val 1724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borrow a method from one object to use on another, </a:t>
            </a:r>
            <a:r>
              <a:rPr lang="en-US" sz="140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'this'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loses its binding. These three methods fix that.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1188720" cy="402336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81328" y="1682496"/>
            <a:ext cx="1371600" cy="402336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572768" y="1682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71216" y="1682496"/>
            <a:ext cx="1463040" cy="402336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962656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Args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2544" y="1682496"/>
            <a:ext cx="1463040" cy="402336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443984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33872" y="1682496"/>
            <a:ext cx="2834640" cy="402336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925312" y="16824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084832"/>
            <a:ext cx="118872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65760" y="2084832"/>
            <a:ext cx="1097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call()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481328" y="2084832"/>
            <a:ext cx="137160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1572768" y="208483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71216" y="2084832"/>
            <a:ext cx="146304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962656" y="20848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one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52544" y="2084832"/>
            <a:ext cx="146304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443984" y="20848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33872" y="2084832"/>
            <a:ext cx="283464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5925312" y="20848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 method once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2542032"/>
            <a:ext cx="11887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365760" y="2542032"/>
            <a:ext cx="1097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apply()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481328" y="2542032"/>
            <a:ext cx="13716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1572768" y="254203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71216" y="2542032"/>
            <a:ext cx="14630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2962656" y="25420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[ ]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52544" y="2542032"/>
            <a:ext cx="14630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443984" y="25420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33872" y="2542032"/>
            <a:ext cx="28346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5925312" y="25420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 already in array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2999232"/>
            <a:ext cx="118872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365760" y="2999232"/>
            <a:ext cx="1097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bind()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481328" y="2999232"/>
            <a:ext cx="137160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1572768" y="299923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(you)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871216" y="2999232"/>
            <a:ext cx="146304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2962656" y="29992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one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52544" y="2999232"/>
            <a:ext cx="146304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4443984" y="299923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function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33872" y="2999232"/>
            <a:ext cx="2834640" cy="44805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5925312" y="299923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handlers / delays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74320" y="3493008"/>
            <a:ext cx="859536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Shape 50"/>
          <p:cNvSpPr/>
          <p:nvPr/>
        </p:nvSpPr>
        <p:spPr>
          <a:xfrm>
            <a:off x="274320" y="3493008"/>
            <a:ext cx="859536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438912" y="35935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>
            <a:off x="640080" y="35935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841248" y="359359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438912" y="3822192"/>
            <a:ext cx="83393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"Ahmed", city: "Lahore"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intro(lang, yrs) { console.log(this.name+" | "+lang+" | "+yrs+"yrs | "+this.city);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intro.call(user,  "JavaScript", 2);       // Ahmed | JavaScript | 2yrs | Lahore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intro.apply(user, ["Python", 3]);         // Ahmed | Python | 3yrs | Lahore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fn = intro.bind(user, "TypeScript"); fn(1); // Ahmed | TypeScript | 1yrs | Lahore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658368" cy="65836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" y="640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Arrow Functions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603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— shorter syntax with fundamentally different 'this' behavior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"/>
            <a:ext cx="17830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7178040" y="182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CS-1041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39776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73152" cy="1207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75488" y="11521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Lexical 'this'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" y="154533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have NO own 'this'. They inherit it from the surrounding scope — essential for class methods and callbacks inside objects.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404872"/>
            <a:ext cx="39776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73152" cy="1207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75488" y="247802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🚫  No 'arguments' Object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" y="287121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functions have a built-in arguments object. Arrow functions don't — use rest parameters (...args) instead.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730752"/>
            <a:ext cx="397764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74320" y="3730752"/>
            <a:ext cx="73152" cy="1207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75488" y="38039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✂️  Concise Syntax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" y="41970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'function' keyword. One-liner expressions need no { } braces and no 'return'. Perfect for .map() .filter() .reduce().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1078992"/>
            <a:ext cx="4434840" cy="3931920"/>
          </a:xfrm>
          <a:prstGeom prst="roundRect">
            <a:avLst>
              <a:gd name="adj" fmla="val 232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434840" y="1078992"/>
            <a:ext cx="443484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599432" y="117957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800600" y="11795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5001768" y="11795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599432" y="1408176"/>
            <a:ext cx="417880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Syntax 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Regular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add(a,b) { return a+b;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(same result)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(a,b) =&gt; a+b;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'this' Problem 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Timer()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this.sec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❌ Regular loses 'this'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setInterval(function()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this.sec++; // 'this'=window 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1000);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✅ Arrow inherits 'this'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setInterval(() =&gt;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this.sec++; // correct 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1000);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No 'arguments' in Arrow 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(...args) instead 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74320" y="155448"/>
            <a:ext cx="658368" cy="65836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" y="640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 Parameters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8992" y="603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— give function parameters a fallback value when nothing is passed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"/>
            <a:ext cx="178308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7178040" y="182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CS-1041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8595360" cy="621792"/>
          </a:xfrm>
          <a:prstGeom prst="roundRect">
            <a:avLst>
              <a:gd name="adj" fmla="val 20588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parameter gives a fallback value when the caller passes </a:t>
            </a:r>
            <a:r>
              <a:rPr lang="en-US" sz="1500" b="1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nothing at all. Introduced in ES6 (2015).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1783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Before ES6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069080" cy="1664208"/>
          </a:xfrm>
          <a:prstGeom prst="roundRect">
            <a:avLst>
              <a:gd name="adj" fmla="val 549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06908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38912" y="22494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40080" y="22494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841248" y="22494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38912" y="2478024"/>
            <a:ext cx="38130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greet(name, role)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name || "Guest";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= role || "viewer";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console.log(name, role);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        // Guest viewer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greet("Noor");  // Noor  viewer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263347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29768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178308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ES6 Default Params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818888" y="2148840"/>
            <a:ext cx="4050792" cy="1664208"/>
          </a:xfrm>
          <a:prstGeom prst="roundRect">
            <a:avLst>
              <a:gd name="adj" fmla="val 549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818888" y="2148840"/>
            <a:ext cx="4050792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983480" y="22494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5184648" y="22494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5385816" y="22494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983480" y="2478024"/>
            <a:ext cx="3794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"Guest",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= "viewer"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console.log(name, role);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F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        // Guest viewer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931920"/>
            <a:ext cx="281635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38912" y="40050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API Functions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8912" y="43525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fetchData(url, method="GET")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18688" y="3931920"/>
            <a:ext cx="281635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383280" y="40050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 UI Components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83280" y="43525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Button(label, color="blue")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3056" y="3931920"/>
            <a:ext cx="281635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CE4F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327648" y="40050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Config Options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27648" y="43525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connect(host, port=3000)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6035040" y="457200"/>
            <a:ext cx="2743200" cy="2743200"/>
          </a:xfrm>
          <a:prstGeom prst="ellipse">
            <a:avLst/>
          </a:prstGeom>
          <a:solidFill>
            <a:srgbClr val="E94560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0" b="1" dirty="0">
                <a:solidFill>
                  <a:srgbClr val="E94560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1000" dirty="0"/>
          </a:p>
        </p:txBody>
      </p:sp>
      <p:sp>
        <p:nvSpPr>
          <p:cNvPr id="5" name="Shape 3"/>
          <p:cNvSpPr/>
          <p:nvPr/>
        </p:nvSpPr>
        <p:spPr>
          <a:xfrm>
            <a:off x="347472" y="347472"/>
            <a:ext cx="91440" cy="14630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94360" y="29260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When would you use recursion instead of a loop?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difference between call() and apply()?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48640" y="31638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 arrow functions not have their own 'this'?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858768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When should you use bind() over call()?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23-NTU-CS-1041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64992" y="4773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23-NTU-CS-1050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4773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23-NTU-CS-1083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463239A7ED544C9DD359DB982DE545" ma:contentTypeVersion="5" ma:contentTypeDescription="Create a new document." ma:contentTypeScope="" ma:versionID="e3e777eedb9702d67f9bd34e8ded6bae">
  <xsd:schema xmlns:xsd="http://www.w3.org/2001/XMLSchema" xmlns:xs="http://www.w3.org/2001/XMLSchema" xmlns:p="http://schemas.microsoft.com/office/2006/metadata/properties" xmlns:ns3="0c827d30-4c91-449e-ae3f-fa1138cf1bf0" targetNamespace="http://schemas.microsoft.com/office/2006/metadata/properties" ma:root="true" ma:fieldsID="a840359a014ffa47e02f0d0fbfab680e" ns3:_="">
    <xsd:import namespace="0c827d30-4c91-449e-ae3f-fa1138cf1bf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827d30-4c91-449e-ae3f-fa1138cf1b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F4A350-CC17-4267-A1A8-F0DF253960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7BF84C-E699-4E63-BC59-BAF3D5DCB7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827d30-4c91-449e-ae3f-fa1138cf1b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0AF670-E9C3-4ED3-9077-23ABBF4C6F91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0c827d30-4c91-449e-ae3f-fa1138cf1bf0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1104</Words>
  <Application>Microsoft Office PowerPoint</Application>
  <PresentationFormat>On-screen Show (16:9)</PresentationFormat>
  <Paragraphs>204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23-NTU-CS-FL-1083</cp:lastModifiedBy>
  <cp:revision>2</cp:revision>
  <dcterms:created xsi:type="dcterms:W3CDTF">2026-05-09T07:18:59Z</dcterms:created>
  <dcterms:modified xsi:type="dcterms:W3CDTF">2026-05-09T07:45:04Z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0x010100AD463239A7ED544C9DD359DB982DE545</vt:lpwstr>
  </property>
</Properties>
</file>