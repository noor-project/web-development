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97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943600" y="27432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502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27432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TRAVEL BOOKING SYSTEM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627632"/>
            <a:ext cx="4114800" cy="36576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274320" y="1783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Year Project 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2176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Computer Science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2578608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274320" y="2743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Zahid Javed  |  Sir Abdul Basit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7180" y="3566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 Fatima  ·  23-NTU-CS-1083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Minahal Fatima ·  23-NTU-CS-1050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 Seemab ·  23-NTU-CS-1041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National Textile University, Faisalabad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0" y="3200400"/>
            <a:ext cx="109728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6583680" y="3218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Files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818120" y="3200400"/>
            <a:ext cx="109728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818120" y="3218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81812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583680" y="3858768"/>
            <a:ext cx="109728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6583680" y="3877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8368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818120" y="3858768"/>
            <a:ext cx="109728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818120" y="3877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81812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Params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was needed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4297680" cy="3291840"/>
          </a:xfrm>
          <a:prstGeom prst="rect">
            <a:avLst/>
          </a:prstGeom>
          <a:solidFill>
            <a:srgbClr val="140A00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01168" y="1572768"/>
            <a:ext cx="42976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01168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848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048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records → double bookings &amp; data loss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3288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status tracking for bookings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98094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payment collection, no receipts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2900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" y="3392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self-service portal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87705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manual admin tasks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325112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1792" y="4288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employee/HR management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81728" y="1572768"/>
            <a:ext cx="4297680" cy="3291840"/>
          </a:xfrm>
          <a:prstGeom prst="rect">
            <a:avLst/>
          </a:prstGeom>
          <a:solidFill>
            <a:srgbClr val="00100A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4"/>
          <p:cNvSpPr/>
          <p:nvPr/>
        </p:nvSpPr>
        <p:spPr>
          <a:xfrm>
            <a:off x="4681728" y="1572768"/>
            <a:ext cx="42976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5"/>
          <p:cNvSpPr/>
          <p:nvPr/>
        </p:nvSpPr>
        <p:spPr>
          <a:xfrm>
            <a:off x="4681728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084832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02352" y="20482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database for all records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3288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02352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booking status dashboard (admin)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8094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10235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 module with receipt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42900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102352" y="3392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 — my_bookings.php</a:t>
            </a:r>
            <a:endParaRPr lang="en-US" sz="11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877056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102352" y="3840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panel with CRUD on all data</a:t>
            </a:r>
            <a:endParaRPr lang="en-US" sz="11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325112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102352" y="4288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 &amp; HR portal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frameworks powering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84048" y="18013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86537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01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scripting &amp; logic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" y="2871216"/>
            <a:ext cx="2743200" cy="118872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200400" y="15727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383280" y="18013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6537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6512" y="1801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96512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(booking_db)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0" y="2871216"/>
            <a:ext cx="2743200" cy="1188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6199632" y="15727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6382512" y="18013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6537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95744" y="1801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XAMPP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095744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environment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99632" y="2871216"/>
            <a:ext cx="2743200" cy="1188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201168" y="31729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0"/>
          <p:cNvSpPr/>
          <p:nvPr/>
        </p:nvSpPr>
        <p:spPr>
          <a:xfrm>
            <a:off x="384048" y="34015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46557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97280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responsive UI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01168" y="4471416"/>
            <a:ext cx="2743200" cy="118872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4"/>
          <p:cNvSpPr/>
          <p:nvPr/>
        </p:nvSpPr>
        <p:spPr>
          <a:xfrm>
            <a:off x="3200400" y="31729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5"/>
          <p:cNvSpPr/>
          <p:nvPr/>
        </p:nvSpPr>
        <p:spPr>
          <a:xfrm>
            <a:off x="3383280" y="34015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4655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96512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Sessions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96512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200400" y="4471416"/>
            <a:ext cx="274320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29"/>
          <p:cNvSpPr/>
          <p:nvPr/>
        </p:nvSpPr>
        <p:spPr>
          <a:xfrm>
            <a:off x="6199632" y="3172968"/>
            <a:ext cx="274320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0"/>
          <p:cNvSpPr/>
          <p:nvPr/>
        </p:nvSpPr>
        <p:spPr>
          <a:xfrm>
            <a:off x="6382512" y="3401568"/>
            <a:ext cx="594360" cy="594360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465576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95744" y="3401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Swiper.js + FA6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095744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slider &amp; icons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199632" y="4471416"/>
            <a:ext cx="2743200" cy="1188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" y="112166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architecture with 3 distinct user levels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481328"/>
            <a:ext cx="2788920" cy="3429000"/>
          </a:xfrm>
          <a:prstGeom prst="rect">
            <a:avLst/>
          </a:prstGeom>
          <a:solidFill>
            <a:srgbClr val="101010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2788920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5544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481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4048" y="2029968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48640" y="1993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homepage + hero slider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" y="2505456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48640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travel packages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2980944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48640" y="29443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3456432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48640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About / FAQ / Legal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3931920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548640" y="38953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account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4407408"/>
            <a:ext cx="82296" cy="8229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48640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portal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0" y="1481328"/>
            <a:ext cx="2788920" cy="3429000"/>
          </a:xfrm>
          <a:prstGeom prst="rect">
            <a:avLst/>
          </a:prstGeom>
          <a:solidFill>
            <a:srgbClr val="101010"/>
          </a:solidFill>
          <a:ln w="1905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3200400" y="1481328"/>
            <a:ext cx="2788920" cy="438912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5544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57600" y="1481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383280" y="2029968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3"/>
          <p:cNvSpPr/>
          <p:nvPr/>
        </p:nvSpPr>
        <p:spPr>
          <a:xfrm>
            <a:off x="3547872" y="1993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14-param booking form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83280" y="2505456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5"/>
          <p:cNvSpPr/>
          <p:nvPr/>
        </p:nvSpPr>
        <p:spPr>
          <a:xfrm>
            <a:off x="3547872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total calculation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383280" y="2980944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7"/>
          <p:cNvSpPr/>
          <p:nvPr/>
        </p:nvSpPr>
        <p:spPr>
          <a:xfrm>
            <a:off x="3547872" y="29443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bank transfer payment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83280" y="3456432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9"/>
          <p:cNvSpPr/>
          <p:nvPr/>
        </p:nvSpPr>
        <p:spPr>
          <a:xfrm>
            <a:off x="3547872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bookings history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383280" y="3931920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1"/>
          <p:cNvSpPr/>
          <p:nvPr/>
        </p:nvSpPr>
        <p:spPr>
          <a:xfrm>
            <a:off x="3547872" y="38953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 status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383280" y="4407408"/>
            <a:ext cx="82296" cy="82296"/>
          </a:xfrm>
          <a:prstGeom prst="ellipse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3"/>
          <p:cNvSpPr/>
          <p:nvPr/>
        </p:nvSpPr>
        <p:spPr>
          <a:xfrm>
            <a:off x="3547872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 logout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199632" y="1481328"/>
            <a:ext cx="2788920" cy="3429000"/>
          </a:xfrm>
          <a:prstGeom prst="rect">
            <a:avLst/>
          </a:prstGeom>
          <a:solidFill>
            <a:srgbClr val="101010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5"/>
          <p:cNvSpPr/>
          <p:nvPr/>
        </p:nvSpPr>
        <p:spPr>
          <a:xfrm>
            <a:off x="6199632" y="1481328"/>
            <a:ext cx="278892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54480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656832" y="1481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6382512" y="2029968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38"/>
          <p:cNvSpPr/>
          <p:nvPr/>
        </p:nvSpPr>
        <p:spPr>
          <a:xfrm>
            <a:off x="6547104" y="1993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(6 KPIs)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382512" y="2505456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0"/>
          <p:cNvSpPr/>
          <p:nvPr/>
        </p:nvSpPr>
        <p:spPr>
          <a:xfrm>
            <a:off x="6547104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bookings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382512" y="2980944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2"/>
          <p:cNvSpPr/>
          <p:nvPr/>
        </p:nvSpPr>
        <p:spPr>
          <a:xfrm>
            <a:off x="6547104" y="29443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on travel packages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382512" y="3456432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4"/>
          <p:cNvSpPr/>
          <p:nvPr/>
        </p:nvSpPr>
        <p:spPr>
          <a:xfrm>
            <a:off x="6547104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payment records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6382512" y="3931920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6"/>
          <p:cNvSpPr/>
          <p:nvPr/>
        </p:nvSpPr>
        <p:spPr>
          <a:xfrm>
            <a:off x="6547104" y="38953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directory + delete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6382512" y="4407408"/>
            <a:ext cx="82296" cy="82296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48"/>
          <p:cNvSpPr/>
          <p:nvPr/>
        </p:nvSpPr>
        <p:spPr>
          <a:xfrm>
            <a:off x="6547104" y="4370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 (HR + payroll)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45262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509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booking_db — 5 tables, 3 foreign key relationships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" y="1421892"/>
            <a:ext cx="2651760" cy="1828800"/>
          </a:xfrm>
          <a:prstGeom prst="rect">
            <a:avLst/>
          </a:prstGeom>
          <a:solidFill>
            <a:srgbClr val="151515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55448" y="1434084"/>
            <a:ext cx="2651760" cy="39471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409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711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9560" y="22768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9748" y="25420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7432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9778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651760" cy="2340864"/>
          </a:xfrm>
          <a:prstGeom prst="rect">
            <a:avLst/>
          </a:prstGeom>
          <a:solidFill>
            <a:srgbClr val="151515"/>
          </a:solidFill>
          <a:ln w="1905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200400" y="1389888"/>
            <a:ext cx="2651760" cy="292608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200400" y="13898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7190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19751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23113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4871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27432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29992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325526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35112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572768"/>
            <a:ext cx="2651760" cy="2084832"/>
          </a:xfrm>
          <a:prstGeom prst="rect">
            <a:avLst/>
          </a:prstGeom>
          <a:solidFill>
            <a:srgbClr val="151515"/>
          </a:solidFill>
          <a:ln w="1905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217920" y="1572768"/>
            <a:ext cx="2651760" cy="2926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217920" y="1572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19019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27648" y="21579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booking_id (FK)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7648" y="24140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7648" y="26700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27648" y="2926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31821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card_last4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34381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0980" y="3401568"/>
            <a:ext cx="2651760" cy="1658112"/>
          </a:xfrm>
          <a:prstGeom prst="rect">
            <a:avLst/>
          </a:prstGeom>
          <a:solidFill>
            <a:srgbClr val="151515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205740" y="3403854"/>
            <a:ext cx="2651760" cy="45948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274320" y="3657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2712" y="3877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0906" y="405993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2712" y="43007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2148" y="44958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46542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" y="52669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657600"/>
            <a:ext cx="2651760" cy="1316736"/>
          </a:xfrm>
          <a:prstGeom prst="rect">
            <a:avLst/>
          </a:prstGeom>
          <a:solidFill>
            <a:srgbClr val="1515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6217920" y="3657600"/>
            <a:ext cx="26517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6217920" y="3657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27648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27648" y="42428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27648" y="44988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47548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926080" y="2011680"/>
            <a:ext cx="274320" cy="0"/>
          </a:xfrm>
          <a:prstGeom prst="line">
            <a:avLst/>
          </a:prstGeom>
          <a:noFill/>
          <a:ln w="19050">
            <a:solidFill>
              <a:srgbClr val="C8974A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2743200" y="1901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52160" y="2103120"/>
            <a:ext cx="365760" cy="0"/>
          </a:xfrm>
          <a:prstGeom prst="line">
            <a:avLst/>
          </a:prstGeom>
          <a:noFill/>
          <a:ln w="19050">
            <a:solidFill>
              <a:srgbClr val="C8974A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5870448" y="199339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9184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4773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→ Relationship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USE CASE DIAGRAM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Actor-to-function mapping across 3 user roles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572768"/>
            <a:ext cx="5669280" cy="3337560"/>
          </a:xfrm>
          <a:prstGeom prst="rect">
            <a:avLst/>
          </a:prstGeom>
          <a:solidFill>
            <a:srgbClr val="0A0A0A"/>
          </a:solidFill>
          <a:ln w="1905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645920" y="15727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BOUNDARY: Online Travel Booking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" y="2304288"/>
            <a:ext cx="411480" cy="4114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36829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" y="3291840"/>
            <a:ext cx="411480" cy="4114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3558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" y="3749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613648" y="2304288"/>
            <a:ext cx="411480" cy="411480"/>
          </a:xfrm>
          <a:prstGeom prst="ellipse">
            <a:avLst/>
          </a:prstGeom>
          <a:solidFill>
            <a:srgbClr val="1A1A1A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3682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22208" y="2761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874520" y="186537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3"/>
          <p:cNvSpPr/>
          <p:nvPr/>
        </p:nvSpPr>
        <p:spPr>
          <a:xfrm>
            <a:off x="1874520" y="1865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packages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2505456"/>
            <a:ext cx="1325880" cy="0"/>
          </a:xfrm>
          <a:prstGeom prst="line">
            <a:avLst/>
          </a:prstGeom>
          <a:noFill/>
          <a:ln w="1016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1874520" y="259689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6"/>
          <p:cNvSpPr/>
          <p:nvPr/>
        </p:nvSpPr>
        <p:spPr>
          <a:xfrm>
            <a:off x="1874520" y="25968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account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2505456"/>
            <a:ext cx="1325880" cy="265176"/>
          </a:xfrm>
          <a:prstGeom prst="line">
            <a:avLst/>
          </a:prstGeom>
          <a:noFill/>
          <a:ln w="1016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18"/>
          <p:cNvSpPr/>
          <p:nvPr/>
        </p:nvSpPr>
        <p:spPr>
          <a:xfrm>
            <a:off x="1874520" y="332841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9"/>
          <p:cNvSpPr/>
          <p:nvPr/>
        </p:nvSpPr>
        <p:spPr>
          <a:xfrm>
            <a:off x="1874520" y="3328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FAQ / Legal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48640" y="2505456"/>
            <a:ext cx="1325880" cy="996696"/>
          </a:xfrm>
          <a:prstGeom prst="line">
            <a:avLst/>
          </a:prstGeom>
          <a:noFill/>
          <a:ln w="1016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1"/>
          <p:cNvSpPr/>
          <p:nvPr/>
        </p:nvSpPr>
        <p:spPr>
          <a:xfrm>
            <a:off x="1874520" y="405993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1874520" y="4059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48640" y="2505456"/>
            <a:ext cx="1325880" cy="1728216"/>
          </a:xfrm>
          <a:prstGeom prst="line">
            <a:avLst/>
          </a:prstGeom>
          <a:noFill/>
          <a:ln w="1016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4"/>
          <p:cNvSpPr/>
          <p:nvPr/>
        </p:nvSpPr>
        <p:spPr>
          <a:xfrm>
            <a:off x="4023360" y="186537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5"/>
          <p:cNvSpPr/>
          <p:nvPr/>
        </p:nvSpPr>
        <p:spPr>
          <a:xfrm>
            <a:off x="4023360" y="1865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booking form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023360" y="259689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8"/>
          <p:cNvSpPr/>
          <p:nvPr/>
        </p:nvSpPr>
        <p:spPr>
          <a:xfrm>
            <a:off x="4023360" y="25968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 flipV="1">
            <a:off x="548640" y="3026663"/>
            <a:ext cx="3124200" cy="466345"/>
          </a:xfrm>
          <a:prstGeom prst="line">
            <a:avLst/>
          </a:prstGeom>
          <a:noFill/>
          <a:ln w="1016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0"/>
          <p:cNvSpPr/>
          <p:nvPr/>
        </p:nvSpPr>
        <p:spPr>
          <a:xfrm>
            <a:off x="4023360" y="332841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1"/>
          <p:cNvSpPr/>
          <p:nvPr/>
        </p:nvSpPr>
        <p:spPr>
          <a:xfrm>
            <a:off x="4023360" y="3328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bookings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023360" y="405993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4"/>
          <p:cNvSpPr/>
          <p:nvPr/>
        </p:nvSpPr>
        <p:spPr>
          <a:xfrm>
            <a:off x="4023360" y="4059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48640" y="3493008"/>
            <a:ext cx="3474720" cy="740664"/>
          </a:xfrm>
          <a:prstGeom prst="line">
            <a:avLst/>
          </a:prstGeom>
          <a:noFill/>
          <a:ln w="1016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6"/>
          <p:cNvSpPr/>
          <p:nvPr/>
        </p:nvSpPr>
        <p:spPr>
          <a:xfrm>
            <a:off x="6172200" y="186537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7"/>
          <p:cNvSpPr/>
          <p:nvPr/>
        </p:nvSpPr>
        <p:spPr>
          <a:xfrm>
            <a:off x="6172200" y="1865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8092440" y="2505456"/>
            <a:ext cx="521208" cy="0"/>
          </a:xfrm>
          <a:prstGeom prst="line">
            <a:avLst/>
          </a:prstGeom>
          <a:noFill/>
          <a:ln w="1016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39"/>
          <p:cNvSpPr/>
          <p:nvPr/>
        </p:nvSpPr>
        <p:spPr>
          <a:xfrm>
            <a:off x="6172200" y="259689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0"/>
          <p:cNvSpPr/>
          <p:nvPr/>
        </p:nvSpPr>
        <p:spPr>
          <a:xfrm>
            <a:off x="6172200" y="25968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8092440" y="2505456"/>
            <a:ext cx="521208" cy="265176"/>
          </a:xfrm>
          <a:prstGeom prst="line">
            <a:avLst/>
          </a:prstGeom>
          <a:noFill/>
          <a:ln w="1016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2"/>
          <p:cNvSpPr/>
          <p:nvPr/>
        </p:nvSpPr>
        <p:spPr>
          <a:xfrm>
            <a:off x="6172200" y="332841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3"/>
          <p:cNvSpPr/>
          <p:nvPr/>
        </p:nvSpPr>
        <p:spPr>
          <a:xfrm>
            <a:off x="6172200" y="3328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packages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8092440" y="2505456"/>
            <a:ext cx="521208" cy="996696"/>
          </a:xfrm>
          <a:prstGeom prst="line">
            <a:avLst/>
          </a:prstGeom>
          <a:noFill/>
          <a:ln w="1016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5"/>
          <p:cNvSpPr/>
          <p:nvPr/>
        </p:nvSpPr>
        <p:spPr>
          <a:xfrm>
            <a:off x="6172200" y="4059936"/>
            <a:ext cx="1920240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6"/>
          <p:cNvSpPr/>
          <p:nvPr/>
        </p:nvSpPr>
        <p:spPr>
          <a:xfrm>
            <a:off x="6172200" y="4059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8092440" y="2505456"/>
            <a:ext cx="521208" cy="1728216"/>
          </a:xfrm>
          <a:prstGeom prst="line">
            <a:avLst/>
          </a:prstGeom>
          <a:noFill/>
          <a:ln w="1016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8867ADE-3DE2-9AE3-B883-8275CC844BC2}"/>
              </a:ext>
            </a:extLst>
          </p:cNvPr>
          <p:cNvCxnSpPr>
            <a:stCxn id="34" idx="1"/>
            <a:endCxn id="35" idx="1"/>
          </p:cNvCxnSpPr>
          <p:nvPr/>
        </p:nvCxnSpPr>
        <p:spPr>
          <a:xfrm>
            <a:off x="3672840" y="3026663"/>
            <a:ext cx="631733" cy="35263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SEQUENCE DIAGRAM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Flow — Sequence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Browser → PHP Server → MySQL Database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572768"/>
            <a:ext cx="914400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8288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0" cy="29718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ysDash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148840" y="1572768"/>
            <a:ext cx="914400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14884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901952"/>
            <a:ext cx="0" cy="29718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ysDash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4434840" y="1572768"/>
            <a:ext cx="914400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43484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901952"/>
            <a:ext cx="0" cy="29718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ysDash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812280" y="1572768"/>
            <a:ext cx="914400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812280" y="1572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901952"/>
            <a:ext cx="0" cy="29718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ysDash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2084832"/>
            <a:ext cx="1965960" cy="0"/>
          </a:xfrm>
          <a:prstGeom prst="line">
            <a:avLst/>
          </a:prstGeom>
          <a:noFill/>
          <a:ln w="1524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165860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home.php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06040" y="2395728"/>
            <a:ext cx="2286000" cy="0"/>
          </a:xfrm>
          <a:prstGeom prst="line">
            <a:avLst/>
          </a:prstGeom>
          <a:noFill/>
          <a:ln w="1524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291840" y="22128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→ session check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06040" y="2706624"/>
            <a:ext cx="2286000" cy="0"/>
          </a:xfrm>
          <a:prstGeom prst="line">
            <a:avLst/>
          </a:prstGeom>
          <a:noFill/>
          <a:ln w="1524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32918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login.php (if no session)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2999232"/>
            <a:ext cx="4251960" cy="0"/>
          </a:xfrm>
          <a:prstGeom prst="line">
            <a:avLst/>
          </a:prstGeom>
          <a:noFill/>
          <a:ln w="1524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2308860" y="2816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login credentials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3310128"/>
            <a:ext cx="2377440" cy="0"/>
          </a:xfrm>
          <a:prstGeom prst="line">
            <a:avLst/>
          </a:prstGeom>
          <a:noFill/>
          <a:ln w="1524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5623560" y="3127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users WHERE email=?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92040" y="3621024"/>
            <a:ext cx="2377440" cy="0"/>
          </a:xfrm>
          <a:prstGeom prst="line">
            <a:avLst/>
          </a:prstGeom>
          <a:noFill/>
          <a:ln w="15240">
            <a:solidFill>
              <a:srgbClr val="8E44AD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623560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user row + bcrypt match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06040" y="3931920"/>
            <a:ext cx="2286000" cy="0"/>
          </a:xfrm>
          <a:prstGeom prst="line">
            <a:avLst/>
          </a:prstGeom>
          <a:noFill/>
          <a:ln w="15240">
            <a:solidFill>
              <a:srgbClr val="40916C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291840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$_SESSION, redirect book.php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4242816"/>
            <a:ext cx="4251960" cy="0"/>
          </a:xfrm>
          <a:prstGeom prst="line">
            <a:avLst/>
          </a:prstGeom>
          <a:noFill/>
          <a:ln w="1524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2308860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booking form (14 params)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4553712"/>
            <a:ext cx="2377440" cy="0"/>
          </a:xfrm>
          <a:prstGeom prst="line">
            <a:avLst/>
          </a:prstGeom>
          <a:noFill/>
          <a:ln w="1524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623560" y="4370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bookings → redirect payment.php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73168" y="2907792"/>
            <a:ext cx="237744" cy="1371600"/>
          </a:xfrm>
          <a:prstGeom prst="rect">
            <a:avLst/>
          </a:prstGeom>
          <a:solidFill>
            <a:srgbClr val="1C3C2C">
              <a:alpha val="60000"/>
            </a:srgbClr>
          </a:solidFill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FLOWCHART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466344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" y="9784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booking lifecycle from visit to payment confirmation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3474720" cy="329184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User visits home.php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865376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3200400" cy="329184"/>
          </a:xfrm>
          <a:prstGeom prst="rect">
            <a:avLst/>
          </a:prstGeom>
          <a:solidFill>
            <a:srgbClr val="1C0A00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Is user logged in?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0" y="2340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0" y="2340864"/>
            <a:ext cx="0" cy="292608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274320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2962656"/>
            <a:ext cx="0" cy="18288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74320" y="3145536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274320" y="3145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Booking Form (book.php)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3474720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74320" y="36210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14 Parameters &amp; Submit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3950208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274320" y="4096512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274320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Calculate: guests × nights × $$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4425696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274320" y="4572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bookings (pending)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1536192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303520" y="15361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→ payment.php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1865376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440680" y="2011680"/>
            <a:ext cx="3200400" cy="329184"/>
          </a:xfrm>
          <a:prstGeom prst="rect">
            <a:avLst/>
          </a:prstGeom>
          <a:solidFill>
            <a:srgbClr val="1C0A00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5440680" y="2011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Select: Card or Bank Transfer?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0880" y="2340864"/>
            <a:ext cx="0" cy="292608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5303520" y="2633472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303520" y="26334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card (13-19 digits, CVV)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2962656"/>
            <a:ext cx="0" cy="18288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5303520" y="3145536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5303520" y="3145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 Show error if 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40880" y="3474720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303520" y="3621024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5303520" y="36210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payments table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3950208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5303520" y="4096512"/>
            <a:ext cx="3474720" cy="329184"/>
          </a:xfrm>
          <a:prstGeom prst="rect">
            <a:avLst/>
          </a:prstGeom>
          <a:solidFill>
            <a:srgbClr val="131313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5303520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bookings status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40880" y="4425696"/>
            <a:ext cx="0" cy="146304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5303520" y="4572000"/>
            <a:ext cx="3474720" cy="329184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5303520" y="4572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Payment Success Screen 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4736592"/>
            <a:ext cx="1554480" cy="0"/>
          </a:xfrm>
          <a:prstGeom prst="line">
            <a:avLst/>
          </a:prstGeom>
          <a:noFill/>
          <a:ln w="12700">
            <a:solidFill>
              <a:srgbClr val="C8974A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3840480" y="4663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74320" y="13533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13533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oversight of the entire booking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865376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709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974A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69848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168" y="2560320"/>
            <a:ext cx="2743200" cy="109728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182112" y="1572768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346704" y="1801368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86537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709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050792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182112" y="2560320"/>
            <a:ext cx="27432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6163056" y="1572768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6327648" y="1801368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86537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31736" y="1709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0916C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031736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63056" y="2560320"/>
            <a:ext cx="2743200" cy="10972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19"/>
          <p:cNvSpPr/>
          <p:nvPr/>
        </p:nvSpPr>
        <p:spPr>
          <a:xfrm>
            <a:off x="201168" y="2871216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0"/>
          <p:cNvSpPr/>
          <p:nvPr/>
        </p:nvSpPr>
        <p:spPr>
          <a:xfrm>
            <a:off x="365760" y="3099816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63824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1069848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01168" y="3858768"/>
            <a:ext cx="27432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4"/>
          <p:cNvSpPr/>
          <p:nvPr/>
        </p:nvSpPr>
        <p:spPr>
          <a:xfrm>
            <a:off x="3182112" y="2871216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5"/>
          <p:cNvSpPr/>
          <p:nvPr/>
        </p:nvSpPr>
        <p:spPr>
          <a:xfrm>
            <a:off x="3346704" y="3099816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63824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50792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498DB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4050792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182112" y="3858768"/>
            <a:ext cx="2743200" cy="10972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29"/>
          <p:cNvSpPr/>
          <p:nvPr/>
        </p:nvSpPr>
        <p:spPr>
          <a:xfrm>
            <a:off x="6163056" y="2871216"/>
            <a:ext cx="2743200" cy="1097280"/>
          </a:xfrm>
          <a:prstGeom prst="rect">
            <a:avLst/>
          </a:prstGeom>
          <a:solidFill>
            <a:srgbClr val="101010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0"/>
          <p:cNvSpPr/>
          <p:nvPr/>
        </p:nvSpPr>
        <p:spPr>
          <a:xfrm>
            <a:off x="6327648" y="3099816"/>
            <a:ext cx="566928" cy="56692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163824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31736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3000" dirty="0"/>
          </a:p>
        </p:txBody>
      </p:sp>
      <p:sp>
        <p:nvSpPr>
          <p:cNvPr id="40" name="Text 32"/>
          <p:cNvSpPr/>
          <p:nvPr/>
        </p:nvSpPr>
        <p:spPr>
          <a:xfrm>
            <a:off x="7031736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163056" y="3858768"/>
            <a:ext cx="2743200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 built into every module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9184" y="1737360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80136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190195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stored as bcrypt hashes via PHP password_hash(). Never stored in plain text. Verified with password_verify() on login.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81728" y="1572768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809744" y="1737360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013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SQL Statements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04688" y="190195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uses mysqli_prepare() + bind_param() to completely prevent SQL injection attacks.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01168" y="2724912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329184" y="2889504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95351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24128" y="305409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page checks $_SESSION['admin_id'] or ['user_id'] at the top. No valid session = instant redirect to login.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81728" y="2724912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809744" y="2889504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95351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Security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504688" y="305409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numbers are NEVER stored in full. Only last 4 digits retained in DB. Full number used only for client-side validation.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01168" y="3877056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1"/>
          <p:cNvSpPr/>
          <p:nvPr/>
        </p:nvSpPr>
        <p:spPr>
          <a:xfrm>
            <a:off x="329184" y="4041648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4105656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24128" y="42062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mysqli_real_escape_string() applied to all user-supplied data before database operations throughout the application.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81728" y="3877056"/>
            <a:ext cx="4251960" cy="1005840"/>
          </a:xfrm>
          <a:prstGeom prst="rect">
            <a:avLst/>
          </a:prstGeom>
          <a:solidFill>
            <a:srgbClr val="0A0A0A"/>
          </a:solidFill>
          <a:ln w="1016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25"/>
          <p:cNvSpPr/>
          <p:nvPr/>
        </p:nvSpPr>
        <p:spPr>
          <a:xfrm>
            <a:off x="4809744" y="4041648"/>
            <a:ext cx="566928" cy="566928"/>
          </a:xfrm>
          <a:prstGeom prst="ellipse">
            <a:avLst/>
          </a:prstGeom>
          <a:solidFill>
            <a:srgbClr val="1A1A1A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105656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504688" y="420624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user accounts exist in completely separate database tables with separate session namespaces. No privilege escalation possible.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8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beyond the current 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897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01168" y="15727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10896" y="16093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65506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1627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9184" y="20848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Stripe / JazzCash / EasyPaisa for live transaction processing.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" y="2871216"/>
            <a:ext cx="2743200" cy="118872"/>
          </a:xfrm>
          <a:prstGeom prst="rect">
            <a:avLst/>
          </a:prstGeom>
          <a:solidFill>
            <a:srgbClr val="C8974A"/>
          </a:solidFill>
          <a:ln w="12700">
            <a:solidFill>
              <a:srgbClr val="C897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200400" y="15727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3200400" y="15727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310128" y="16093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65506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94176" y="1627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28416" y="20848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PHPMailer integration for booking confirmations, status updates, and receipts.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0" y="2871216"/>
            <a:ext cx="2743200" cy="1188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6"/>
          <p:cNvSpPr/>
          <p:nvPr/>
        </p:nvSpPr>
        <p:spPr>
          <a:xfrm>
            <a:off x="6199632" y="15727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6199632" y="15727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18"/>
          <p:cNvSpPr/>
          <p:nvPr/>
        </p:nvSpPr>
        <p:spPr>
          <a:xfrm>
            <a:off x="6309360" y="16093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6550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93408" y="1627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Receipt Generation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27648" y="20848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TCPDF/Dompdf for downloadable booking confirmations and payment receipts.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199632" y="2871216"/>
            <a:ext cx="274320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2"/>
          <p:cNvSpPr/>
          <p:nvPr/>
        </p:nvSpPr>
        <p:spPr>
          <a:xfrm>
            <a:off x="201168" y="31729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3"/>
          <p:cNvSpPr/>
          <p:nvPr/>
        </p:nvSpPr>
        <p:spPr>
          <a:xfrm>
            <a:off x="201168" y="31729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4"/>
          <p:cNvSpPr/>
          <p:nvPr/>
        </p:nvSpPr>
        <p:spPr>
          <a:xfrm>
            <a:off x="310896" y="32095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325526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29184" y="36850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dashboards: monthly revenue trends, popular destinations, demographics.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01168" y="4471416"/>
            <a:ext cx="2743200" cy="1188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28"/>
          <p:cNvSpPr/>
          <p:nvPr/>
        </p:nvSpPr>
        <p:spPr>
          <a:xfrm>
            <a:off x="3200400" y="31729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29"/>
          <p:cNvSpPr/>
          <p:nvPr/>
        </p:nvSpPr>
        <p:spPr>
          <a:xfrm>
            <a:off x="3200400" y="31729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0"/>
          <p:cNvSpPr/>
          <p:nvPr/>
        </p:nvSpPr>
        <p:spPr>
          <a:xfrm>
            <a:off x="3310128" y="32095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325526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94176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328416" y="36850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companion app with REST API backend.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200400" y="4471416"/>
            <a:ext cx="2743200" cy="1188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4"/>
          <p:cNvSpPr/>
          <p:nvPr/>
        </p:nvSpPr>
        <p:spPr>
          <a:xfrm>
            <a:off x="6199632" y="3172968"/>
            <a:ext cx="2743200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35"/>
          <p:cNvSpPr/>
          <p:nvPr/>
        </p:nvSpPr>
        <p:spPr>
          <a:xfrm>
            <a:off x="6199632" y="3172968"/>
            <a:ext cx="2743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36"/>
          <p:cNvSpPr/>
          <p:nvPr/>
        </p:nvSpPr>
        <p:spPr>
          <a:xfrm>
            <a:off x="6309360" y="3209544"/>
            <a:ext cx="310896" cy="310896"/>
          </a:xfrm>
          <a:prstGeom prst="ellipse">
            <a:avLst/>
          </a:prstGeom>
          <a:solidFill>
            <a:srgbClr val="252525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55264"/>
            <a:ext cx="219456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693408" y="3227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Package Recommendations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327648" y="36850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recommendation engine personalizing packages based on user history.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199632" y="4471416"/>
            <a:ext cx="2743200" cy="118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463239A7ED544C9DD359DB982DE545" ma:contentTypeVersion="5" ma:contentTypeDescription="Create a new document." ma:contentTypeScope="" ma:versionID="e3e777eedb9702d67f9bd34e8ded6bae">
  <xsd:schema xmlns:xsd="http://www.w3.org/2001/XMLSchema" xmlns:xs="http://www.w3.org/2001/XMLSchema" xmlns:p="http://schemas.microsoft.com/office/2006/metadata/properties" xmlns:ns3="0c827d30-4c91-449e-ae3f-fa1138cf1bf0" targetNamespace="http://schemas.microsoft.com/office/2006/metadata/properties" ma:root="true" ma:fieldsID="a840359a014ffa47e02f0d0fbfab680e" ns3:_="">
    <xsd:import namespace="0c827d30-4c91-449e-ae3f-fa1138cf1b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27d30-4c91-449e-ae3f-fa1138cf1b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D6CD56-9B65-4DB9-9C50-9717EC4B3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3C3402-5335-40AB-A816-EC2E1C5AA9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827d30-4c91-449e-ae3f-fa1138cf1b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6044ED-49C2-40EF-9650-9E245484299E}">
  <ds:schemaRefs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0c827d30-4c91-449e-ae3f-fa1138cf1bf0"/>
    <ds:schemaRef ds:uri="http://purl.org/dc/elements/1.1/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936</Words>
  <Application>Microsoft Office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Travel Booking System — FYP</dc:title>
  <dc:subject>PptxGenJS Presentation</dc:subject>
  <dc:creator>PptxGenJS</dc:creator>
  <cp:lastModifiedBy>23-NTU-CS-FL-1083</cp:lastModifiedBy>
  <cp:revision>4</cp:revision>
  <dcterms:created xsi:type="dcterms:W3CDTF">2026-05-18T09:18:30Z</dcterms:created>
  <dcterms:modified xsi:type="dcterms:W3CDTF">2026-05-19T04:36:05Z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0x010100AD463239A7ED544C9DD359DB982DE545</vt:lpwstr>
  </property>
</Properties>
</file>